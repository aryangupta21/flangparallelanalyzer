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2468880"/>
            <a:ext cx="1645920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true" sz="8200" dirty="0">
                <a:solidFill>
                  <a:srgbClr val="083C92"/>
                </a:solidFill>
                <a:latin typeface="Playfair Display Bold Italics"/>
              </a:rPr>
              <a:t>FlangParallelAnalyzer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1600" y="4251960"/>
            <a:ext cx="155448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3600" dirty="0">
                <a:solidFill>
                  <a:srgbClr val="000000"/>
                </a:solidFill>
                <a:latin typeface="Calibri"/>
              </a:rPr>
              <a:t>Automatic Loop Parallelism Analysis for Fortran</a:t>
            </a:r>
            <a:br/>
            <a:r>
              <a:rPr lang="en-US" b="true" i="false" sz="3600" dirty="0">
                <a:solidFill>
                  <a:srgbClr val="000000"/>
                </a:solidFill>
                <a:latin typeface="Calibri"/>
              </a:rPr>
              <a:t>using LLVM Flang &amp; MLIR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1600" y="5486400"/>
            <a:ext cx="155448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2000" dirty="0">
                <a:solidFill>
                  <a:srgbClr val="444444"/>
                </a:solidFill>
                <a:latin typeface="Calibri"/>
              </a:rPr>
              <a:t>Aryan Gupta   ·   Arushi Vaidya   ·   Arpita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" y="6080760"/>
            <a:ext cx="155448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false" sz="1600" dirty="0">
                <a:solidFill>
                  <a:srgbClr val="888888"/>
                </a:solidFill>
                <a:latin typeface="Calibri"/>
              </a:rPr>
              <a:t>Dept. of Computer Science and Engineering  |  RV College of Engineering, Bengaluru</a:t>
            </a:r>
          </a:p>
        </p:txBody>
      </p:sp>
      <p:sp>
        <p:nvSpPr>
          <p:cNvPr name="Chip 20" id="20"/>
          <p:cNvSpPr/>
          <p:nvPr/>
        </p:nvSpPr>
        <p:spPr>
          <a:xfrm rot="0">
            <a:off x="4572000" y="6949440"/>
            <a:ext cx="2926080" cy="59436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800" dirty="0">
                <a:solidFill>
                  <a:srgbClr val="FFFFFF"/>
                </a:solidFill>
                <a:latin typeface="Calibri"/>
              </a:rPr>
              <a:t>35  Test Cases</a:t>
            </a:r>
          </a:p>
        </p:txBody>
      </p:sp>
      <p:sp>
        <p:nvSpPr>
          <p:cNvPr name="Chip 21" id="21"/>
          <p:cNvSpPr/>
          <p:nvPr/>
        </p:nvSpPr>
        <p:spPr>
          <a:xfrm rot="0">
            <a:off x="8046720" y="6949440"/>
            <a:ext cx="2926080" cy="594360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800" dirty="0">
                <a:solidFill>
                  <a:srgbClr val="FFFFFF"/>
                </a:solidFill>
                <a:latin typeface="Calibri"/>
              </a:rPr>
              <a:t>100%  Accuracy</a:t>
            </a:r>
          </a:p>
        </p:txBody>
      </p:sp>
      <p:sp>
        <p:nvSpPr>
          <p:cNvPr name="Chip 22" id="22"/>
          <p:cNvSpPr/>
          <p:nvPr/>
        </p:nvSpPr>
        <p:spPr>
          <a:xfrm rot="0">
            <a:off x="11521440" y="6949440"/>
            <a:ext cx="2926080" cy="594360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800" dirty="0">
                <a:solidFill>
                  <a:srgbClr val="FFFFFF"/>
                </a:solidFill>
                <a:latin typeface="Calibri"/>
              </a:rPr>
              <a:t>0  False Positives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200" y="9692640"/>
            <a:ext cx="17373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false" sz="1600" dirty="0">
                <a:solidFill>
                  <a:srgbClr val="888888"/>
                </a:solidFill>
                <a:latin typeface="Calibri"/>
              </a:rPr>
              <a:t>RV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Problem Statement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40" id="40"/>
          <p:cNvSpPr txBox="true"/>
          <p:nvPr/>
        </p:nvSpPr>
        <p:spPr>
          <a:xfrm rot="0">
            <a:off x="1005840" y="1920240"/>
            <a:ext cx="77724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2200" dirty="0">
                <a:solidFill>
                  <a:srgbClr val="083C92"/>
                </a:solidFill>
                <a:latin typeface="Playfair Display Bold Italics"/>
              </a:rPr>
              <a:t>The Challenge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05840" y="2514600"/>
            <a:ext cx="27432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650" dirty="0">
                <a:solidFill>
                  <a:srgbClr val="083C92"/>
                </a:solidFill>
                <a:latin typeface="Calibri"/>
              </a:rPr>
              <a:t>▸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80160" y="2514600"/>
            <a:ext cx="749807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Fortran DO loops power scientific computing —</a:t>
            </a:r>
            <a:br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   weather models, CFD, matrix solvers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05840" y="3081528"/>
            <a:ext cx="27432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650" dirty="0">
                <a:solidFill>
                  <a:srgbClr val="083C92"/>
                </a:solidFill>
                <a:latin typeface="Calibri"/>
              </a:rPr>
              <a:t>▸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80160" y="3081528"/>
            <a:ext cx="749807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OpenMP !$OMP PARALLEL DO enables multi-core speedup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05840" y="3648456"/>
            <a:ext cx="27432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650" dirty="0">
                <a:solidFill>
                  <a:srgbClr val="083C92"/>
                </a:solidFill>
                <a:latin typeface="Calibri"/>
              </a:rPr>
              <a:t>▸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80160" y="3648456"/>
            <a:ext cx="749807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Wrong annotation  →  silent incorrect results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05840" y="4215383"/>
            <a:ext cx="27432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650" dirty="0">
                <a:solidFill>
                  <a:srgbClr val="083C92"/>
                </a:solidFill>
                <a:latin typeface="Calibri"/>
              </a:rPr>
              <a:t>▸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280160" y="4215383"/>
            <a:ext cx="749807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Missed annotation  →  wasted performance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05840" y="4782312"/>
            <a:ext cx="274320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650" dirty="0">
                <a:solidFill>
                  <a:srgbClr val="083C92"/>
                </a:solidFill>
                <a:latin typeface="Calibri"/>
              </a:rPr>
              <a:t>▸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80160" y="4782312"/>
            <a:ext cx="7498079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Manual analysis of large codebases = hours of work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26880" y="1920240"/>
            <a:ext cx="7498079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2200" dirty="0">
                <a:solidFill>
                  <a:srgbClr val="083C92"/>
                </a:solidFill>
                <a:latin typeface="Playfair Display Bold Italics"/>
              </a:rPr>
              <a:t>Manual Process Today</a:t>
            </a:r>
          </a:p>
        </p:txBody>
      </p:sp>
      <p:sp>
        <p:nvSpPr>
          <p:cNvPr name="Chip 60" id="60"/>
          <p:cNvSpPr/>
          <p:nvPr/>
        </p:nvSpPr>
        <p:spPr>
          <a:xfrm rot="0">
            <a:off x="9326880" y="2587752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829800" y="2514600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Read the FIR / assembly output</a:t>
            </a:r>
          </a:p>
        </p:txBody>
      </p:sp>
      <p:sp>
        <p:nvSpPr>
          <p:cNvPr name="Chip 61" id="61"/>
          <p:cNvSpPr/>
          <p:nvPr/>
        </p:nvSpPr>
        <p:spPr>
          <a:xfrm rot="0">
            <a:off x="9326880" y="3154680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829800" y="3081528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Trace every array subscript for aliases</a:t>
            </a:r>
          </a:p>
        </p:txBody>
      </p:sp>
      <p:sp>
        <p:nvSpPr>
          <p:cNvPr name="Chip 62" id="62"/>
          <p:cNvSpPr/>
          <p:nvPr/>
        </p:nvSpPr>
        <p:spPr>
          <a:xfrm rot="0">
            <a:off x="9326880" y="3721608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829800" y="3648456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Check for loop-carried dependencies</a:t>
            </a:r>
          </a:p>
        </p:txBody>
      </p:sp>
      <p:sp>
        <p:nvSpPr>
          <p:cNvPr name="Chip 63" id="63"/>
          <p:cNvSpPr/>
          <p:nvPr/>
        </p:nvSpPr>
        <p:spPr>
          <a:xfrm rot="0">
            <a:off x="9326880" y="4288536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829800" y="4215383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Identify reduction variables manually</a:t>
            </a:r>
          </a:p>
        </p:txBody>
      </p:sp>
      <p:sp>
        <p:nvSpPr>
          <p:cNvPr name="Chip 64" id="64"/>
          <p:cNvSpPr/>
          <p:nvPr/>
        </p:nvSpPr>
        <p:spPr>
          <a:xfrm rot="0">
            <a:off x="9326880" y="4855464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829800" y="4782312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Write !$OMP directive by hand</a:t>
            </a:r>
          </a:p>
        </p:txBody>
      </p:sp>
      <p:sp>
        <p:nvSpPr>
          <p:cNvPr name="Chip 65" id="65"/>
          <p:cNvSpPr/>
          <p:nvPr/>
        </p:nvSpPr>
        <p:spPr>
          <a:xfrm rot="0">
            <a:off x="9326880" y="5422392"/>
            <a:ext cx="411480" cy="34747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829800" y="5349240"/>
            <a:ext cx="6858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50" dirty="0">
                <a:solidFill>
                  <a:srgbClr val="000000"/>
                </a:solidFill>
                <a:latin typeface="Calibri"/>
              </a:rPr>
              <a:t>Risk of human error at every step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05840" y="9646920"/>
            <a:ext cx="1627632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true" sz="1700" dirty="0">
                <a:solidFill>
                  <a:srgbClr val="083C92"/>
                </a:solidFill>
                <a:latin typeface="Calibri"/>
              </a:rPr>
              <a:t>⚠  FlangParallelAnalyzer automates this — per loop, in under a second, with zero false positives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Objectives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40" id="40"/>
          <p:cNvSpPr txBox="true"/>
          <p:nvPr/>
        </p:nvSpPr>
        <p:spPr>
          <a:xfrm rot="0">
            <a:off x="1005840" y="1828800"/>
            <a:ext cx="1627632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true" sz="2000" dirty="0">
                <a:solidFill>
                  <a:srgbClr val="083C92"/>
                </a:solidFill>
                <a:latin typeface="Playfair Display Bold Italics"/>
              </a:rPr>
              <a:t>What FlangParallelAnalyzer sets out to do</a:t>
            </a:r>
          </a:p>
        </p:txBody>
      </p:sp>
      <p:sp>
        <p:nvSpPr>
          <p:cNvPr name="Chip 50" id="50"/>
          <p:cNvSpPr/>
          <p:nvPr/>
        </p:nvSpPr>
        <p:spPr>
          <a:xfrm rot="0">
            <a:off x="1097280" y="2633472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83080" y="2560320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Automatically classify every Fortran DO loop as SAFE, REDUCTION, or UNSAFE</a:t>
            </a:r>
          </a:p>
        </p:txBody>
      </p:sp>
      <p:sp>
        <p:nvSpPr>
          <p:cNvPr name="Chip 51" id="51"/>
          <p:cNvSpPr/>
          <p:nvPr/>
        </p:nvSpPr>
        <p:spPr>
          <a:xfrm rot="0">
            <a:off x="9601200" y="2633472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0" y="2560320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Operate on FIR (Flang Intermediate Representation) — no Fortran source parsing needed</a:t>
            </a:r>
          </a:p>
        </p:txBody>
      </p:sp>
      <p:sp>
        <p:nvSpPr>
          <p:cNvPr name="Chip 52" id="52"/>
          <p:cNvSpPr/>
          <p:nvPr/>
        </p:nvSpPr>
        <p:spPr>
          <a:xfrm rot="0">
            <a:off x="1097280" y="3593591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83080" y="3520439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Detect loop-carried dependencies using induction-variable index pattern matching</a:t>
            </a:r>
          </a:p>
        </p:txBody>
      </p:sp>
      <p:sp>
        <p:nvSpPr>
          <p:cNvPr name="Chip 53" id="53"/>
          <p:cNvSpPr/>
          <p:nvPr/>
        </p:nvSpPr>
        <p:spPr>
          <a:xfrm rot="0">
            <a:off x="9601200" y="3593591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0" y="3520439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Identify scalar reduction variables and emit correct OpenMP REDUCTION clauses</a:t>
            </a:r>
          </a:p>
        </p:txBody>
      </p:sp>
      <p:sp>
        <p:nvSpPr>
          <p:cNvPr name="Chip 54" id="54"/>
          <p:cNvSpPr/>
          <p:nvPr/>
        </p:nvSpPr>
        <p:spPr>
          <a:xfrm rot="0">
            <a:off x="1097280" y="4553712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83080" y="4480560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Provide a full per-loop analysis trace so developers can audit and override decisions</a:t>
            </a:r>
          </a:p>
        </p:txBody>
      </p:sp>
      <p:sp>
        <p:nvSpPr>
          <p:cNvPr name="Chip 55" id="55"/>
          <p:cNvSpPr/>
          <p:nvPr/>
        </p:nvSpPr>
        <p:spPr>
          <a:xfrm rot="0">
            <a:off x="9601200" y="4553712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0" y="4480560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Generate an interactive HTML report with source annotations and confidence scores</a:t>
            </a:r>
          </a:p>
        </p:txBody>
      </p:sp>
      <p:sp>
        <p:nvSpPr>
          <p:cNvPr name="Chip 56" id="56"/>
          <p:cNvSpPr/>
          <p:nvPr/>
        </p:nvSpPr>
        <p:spPr>
          <a:xfrm rot="0">
            <a:off x="1097280" y="5513832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00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83080" y="5440680"/>
            <a:ext cx="731520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Guarantee zero false positives — conservatively prefer UNSAFE over incorrect 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Methodology — 5-Phase Analysis Pipeline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TextBox 12" id="12"/>
          <p:cNvSpPr txBox="true"/>
          <p:nvPr/>
        </p:nvSpPr>
        <p:spPr>
          <a:xfrm rot="0">
            <a:off x="914400" y="1508760"/>
            <a:ext cx="164592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2000" dirty="0">
                <a:solidFill>
                  <a:srgbClr val="444444"/>
                </a:solidFill>
                <a:latin typeface="Calibri"/>
              </a:rPr>
              <a:t>Each phase either sets a final verdict or passes to the next</a:t>
            </a:r>
          </a:p>
        </p:txBody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Chip 50" id="50"/>
          <p:cNvSpPr/>
          <p:nvPr/>
        </p:nvSpPr>
        <p:spPr>
          <a:xfrm rot="0">
            <a:off x="2103120" y="1874519"/>
            <a:ext cx="548640" cy="50292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20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name="ContentBox 60" id="60"/>
          <p:cNvSpPr/>
          <p:nvPr/>
        </p:nvSpPr>
        <p:spPr>
          <a:xfrm rot="0">
            <a:off x="1005840" y="2468879"/>
            <a:ext cx="2971800" cy="5669280"/>
          </a:xfrm>
          <a:prstGeom prst="roundRect">
            <a:avLst>
              <a:gd name="adj" fmla="val 15000"/>
            </a:avLst>
          </a:prstGeom>
          <a:solidFill>
            <a:srgbClr val="D9D9D9">
              <a:alpha val="92000"/>
            </a:srgbClr>
          </a:solidFill>
          <a:ln>
            <a:noFill/>
          </a:ln>
        </p:spPr>
      </p:sp>
      <p:sp>
        <p:nvSpPr>
          <p:cNvPr name="TextBox 70" id="70"/>
          <p:cNvSpPr txBox="true"/>
          <p:nvPr/>
        </p:nvSpPr>
        <p:spPr>
          <a:xfrm rot="0">
            <a:off x="1097280" y="2606039"/>
            <a:ext cx="2788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900" dirty="0">
                <a:solidFill>
                  <a:srgbClr val="083C92"/>
                </a:solidFill>
                <a:latin typeface="Playfair Display Bold Italics"/>
              </a:rPr>
              <a:t>Structure</a:t>
            </a:r>
          </a:p>
        </p:txBody>
      </p:sp>
      <p:sp>
        <p:nvSpPr>
          <p:cNvPr name="Line 80" id="80"/>
          <p:cNvSpPr>
            <a:spLocks noGrp="true"/>
          </p:cNvSpPr>
          <p:nvPr/>
        </p:nvSpPr>
        <p:spPr>
          <a:xfrm rot="0">
            <a:off x="1097280" y="3264408"/>
            <a:ext cx="2743200" cy="0"/>
          </a:xfrm>
          <a:prstGeom prst="line">
            <a:avLst/>
          </a:prstGeom>
          <a:noFill/>
          <a:ln w="9000">
            <a:solidFill>
              <a:srgbClr val="083C92"/>
            </a:solidFill>
          </a:ln>
        </p:spPr>
      </p:sp>
      <p:sp>
        <p:nvSpPr>
          <p:cNvPr name="TextBox 90" id="90"/>
          <p:cNvSpPr txBox="true"/>
          <p:nvPr/>
        </p:nvSpPr>
        <p:spPr>
          <a:xfrm rot="0">
            <a:off x="1115568" y="3429000"/>
            <a:ext cx="27432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Collect loop bounds,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nesting depth,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op count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4005072" y="4800600"/>
            <a:ext cx="338328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22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51" id="51"/>
          <p:cNvSpPr/>
          <p:nvPr/>
        </p:nvSpPr>
        <p:spPr>
          <a:xfrm rot="0">
            <a:off x="5440680" y="1874519"/>
            <a:ext cx="548640" cy="502920"/>
          </a:xfrm>
          <a:prstGeom prst="roundRect">
            <a:avLst>
              <a:gd name="adj" fmla="val 20000"/>
            </a:avLst>
          </a:prstGeom>
          <a:solidFill>
            <a:srgbClr val="1B6CA8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20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name="ContentBox 61" id="61"/>
          <p:cNvSpPr/>
          <p:nvPr/>
        </p:nvSpPr>
        <p:spPr>
          <a:xfrm rot="0">
            <a:off x="4343400" y="2468879"/>
            <a:ext cx="2971800" cy="5669280"/>
          </a:xfrm>
          <a:prstGeom prst="roundRect">
            <a:avLst>
              <a:gd name="adj" fmla="val 15000"/>
            </a:avLst>
          </a:prstGeom>
          <a:solidFill>
            <a:srgbClr val="D9D9D9">
              <a:alpha val="92000"/>
            </a:srgbClr>
          </a:solidFill>
          <a:ln>
            <a:noFill/>
          </a:ln>
        </p:spPr>
      </p:sp>
      <p:sp>
        <p:nvSpPr>
          <p:cNvPr name="TextBox 71" id="71"/>
          <p:cNvSpPr txBox="true"/>
          <p:nvPr/>
        </p:nvSpPr>
        <p:spPr>
          <a:xfrm rot="0">
            <a:off x="4434840" y="2606039"/>
            <a:ext cx="2788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900" dirty="0">
                <a:solidFill>
                  <a:srgbClr val="1B6CA8"/>
                </a:solidFill>
                <a:latin typeface="Playfair Display Bold Italics"/>
              </a:rPr>
              <a:t>Mem Access</a:t>
            </a:r>
          </a:p>
        </p:txBody>
      </p:sp>
      <p:sp>
        <p:nvSpPr>
          <p:cNvPr name="Line 81" id="81"/>
          <p:cNvSpPr>
            <a:spLocks noGrp="true"/>
          </p:cNvSpPr>
          <p:nvPr/>
        </p:nvSpPr>
        <p:spPr>
          <a:xfrm rot="0">
            <a:off x="4434840" y="3264408"/>
            <a:ext cx="2743200" cy="0"/>
          </a:xfrm>
          <a:prstGeom prst="line">
            <a:avLst/>
          </a:prstGeom>
          <a:noFill/>
          <a:ln w="9000">
            <a:solidFill>
              <a:srgbClr val="1B6CA8"/>
            </a:solidFill>
          </a:ln>
        </p:spPr>
      </p:sp>
      <p:sp>
        <p:nvSpPr>
          <p:cNvPr name="TextBox 91" id="91"/>
          <p:cNvSpPr txBox="true"/>
          <p:nvPr/>
        </p:nvSpPr>
        <p:spPr>
          <a:xfrm rot="0">
            <a:off x="4453128" y="3429000"/>
            <a:ext cx="27432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Classify reads / writes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as external or local.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Build AccessRecord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7342631" y="4800600"/>
            <a:ext cx="338328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22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52" id="52"/>
          <p:cNvSpPr/>
          <p:nvPr/>
        </p:nvSpPr>
        <p:spPr>
          <a:xfrm rot="0">
            <a:off x="8778240" y="1874519"/>
            <a:ext cx="548640" cy="502920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20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name="ContentBox 62" id="62"/>
          <p:cNvSpPr/>
          <p:nvPr/>
        </p:nvSpPr>
        <p:spPr>
          <a:xfrm rot="0">
            <a:off x="7680960" y="2468879"/>
            <a:ext cx="2971800" cy="5669280"/>
          </a:xfrm>
          <a:prstGeom prst="roundRect">
            <a:avLst>
              <a:gd name="adj" fmla="val 15000"/>
            </a:avLst>
          </a:prstGeom>
          <a:solidFill>
            <a:srgbClr val="D9D9D9">
              <a:alpha val="92000"/>
            </a:srgbClr>
          </a:solidFill>
          <a:ln>
            <a:noFill/>
          </a:ln>
        </p:spPr>
      </p:sp>
      <p:sp>
        <p:nvSpPr>
          <p:cNvPr name="TextBox 72" id="72"/>
          <p:cNvSpPr txBox="true"/>
          <p:nvPr/>
        </p:nvSpPr>
        <p:spPr>
          <a:xfrm rot="0">
            <a:off x="7772400" y="2606039"/>
            <a:ext cx="2788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900" dirty="0">
                <a:solidFill>
                  <a:srgbClr val="1A6B3C"/>
                </a:solidFill>
                <a:latin typeface="Playfair Display Bold Italics"/>
              </a:rPr>
              <a:t>Index Analysis</a:t>
            </a:r>
          </a:p>
        </p:txBody>
      </p:sp>
      <p:sp>
        <p:nvSpPr>
          <p:cNvPr name="Line 82" id="82"/>
          <p:cNvSpPr>
            <a:spLocks noGrp="true"/>
          </p:cNvSpPr>
          <p:nvPr/>
        </p:nvSpPr>
        <p:spPr>
          <a:xfrm rot="0">
            <a:off x="7772400" y="3264408"/>
            <a:ext cx="2743200" cy="0"/>
          </a:xfrm>
          <a:prstGeom prst="line">
            <a:avLst/>
          </a:prstGeom>
          <a:noFill/>
          <a:ln w="9000">
            <a:solidFill>
              <a:srgbClr val="1A6B3C"/>
            </a:solidFill>
          </a:ln>
        </p:spPr>
      </p:sp>
      <p:sp>
        <p:nvSpPr>
          <p:cNvPr name="TextBox 92" id="92"/>
          <p:cNvSpPr txBox="true"/>
          <p:nvPr/>
        </p:nvSpPr>
        <p:spPr>
          <a:xfrm rot="0">
            <a:off x="7790688" y="3429000"/>
            <a:ext cx="27432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Is subscript a(i)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or a(i±k)?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Detects loop-carried deps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0680192" y="4800600"/>
            <a:ext cx="338328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22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53" id="53"/>
          <p:cNvSpPr/>
          <p:nvPr/>
        </p:nvSpPr>
        <p:spPr>
          <a:xfrm rot="0">
            <a:off x="12115799" y="1874519"/>
            <a:ext cx="548640" cy="50292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20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name="ContentBox 63" id="63"/>
          <p:cNvSpPr/>
          <p:nvPr/>
        </p:nvSpPr>
        <p:spPr>
          <a:xfrm rot="0">
            <a:off x="11018519" y="2468879"/>
            <a:ext cx="2971800" cy="5669280"/>
          </a:xfrm>
          <a:prstGeom prst="roundRect">
            <a:avLst>
              <a:gd name="adj" fmla="val 15000"/>
            </a:avLst>
          </a:prstGeom>
          <a:solidFill>
            <a:srgbClr val="D9D9D9">
              <a:alpha val="92000"/>
            </a:srgbClr>
          </a:solidFill>
          <a:ln>
            <a:noFill/>
          </a:ln>
        </p:spPr>
      </p:sp>
      <p:sp>
        <p:nvSpPr>
          <p:cNvPr name="TextBox 73" id="73"/>
          <p:cNvSpPr txBox="true"/>
          <p:nvPr/>
        </p:nvSpPr>
        <p:spPr>
          <a:xfrm rot="0">
            <a:off x="11109959" y="2606039"/>
            <a:ext cx="2788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900" dirty="0">
                <a:solidFill>
                  <a:srgbClr val="B8860B"/>
                </a:solidFill>
                <a:latin typeface="Playfair Display Bold Italics"/>
              </a:rPr>
              <a:t>Reduction</a:t>
            </a:r>
          </a:p>
        </p:txBody>
      </p:sp>
      <p:sp>
        <p:nvSpPr>
          <p:cNvPr name="Line 83" id="83"/>
          <p:cNvSpPr>
            <a:spLocks noGrp="true"/>
          </p:cNvSpPr>
          <p:nvPr/>
        </p:nvSpPr>
        <p:spPr>
          <a:xfrm rot="0">
            <a:off x="11109959" y="3264408"/>
            <a:ext cx="2743200" cy="0"/>
          </a:xfrm>
          <a:prstGeom prst="line">
            <a:avLst/>
          </a:prstGeom>
          <a:noFill/>
          <a:ln w="9000">
            <a:solidFill>
              <a:srgbClr val="B8860B"/>
            </a:solidFill>
          </a:ln>
        </p:spPr>
      </p:sp>
      <p:sp>
        <p:nvSpPr>
          <p:cNvPr name="TextBox 93" id="93"/>
          <p:cNvSpPr txBox="true"/>
          <p:nvPr/>
        </p:nvSpPr>
        <p:spPr>
          <a:xfrm rot="0">
            <a:off x="11128247" y="3429000"/>
            <a:ext cx="27432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Match load → op → store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pattern on scalars.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Emit REDUCTION clause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14017751" y="4800600"/>
            <a:ext cx="338328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22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54" id="54"/>
          <p:cNvSpPr/>
          <p:nvPr/>
        </p:nvSpPr>
        <p:spPr>
          <a:xfrm rot="0">
            <a:off x="15453359" y="1874519"/>
            <a:ext cx="548640" cy="502920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200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name="ContentBox 64" id="64"/>
          <p:cNvSpPr/>
          <p:nvPr/>
        </p:nvSpPr>
        <p:spPr>
          <a:xfrm rot="0">
            <a:off x="14356080" y="2468879"/>
            <a:ext cx="2971800" cy="5669280"/>
          </a:xfrm>
          <a:prstGeom prst="roundRect">
            <a:avLst>
              <a:gd name="adj" fmla="val 15000"/>
            </a:avLst>
          </a:prstGeom>
          <a:solidFill>
            <a:srgbClr val="D9D9D9">
              <a:alpha val="92000"/>
            </a:srgbClr>
          </a:solidFill>
          <a:ln>
            <a:noFill/>
          </a:ln>
        </p:spPr>
      </p:sp>
      <p:sp>
        <p:nvSpPr>
          <p:cNvPr name="TextBox 74" id="74"/>
          <p:cNvSpPr txBox="true"/>
          <p:nvPr/>
        </p:nvSpPr>
        <p:spPr>
          <a:xfrm rot="0">
            <a:off x="14447519" y="2606039"/>
            <a:ext cx="2788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900" dirty="0">
                <a:solidFill>
                  <a:srgbClr val="8B1A1A"/>
                </a:solidFill>
                <a:latin typeface="Playfair Display Bold Italics"/>
              </a:rPr>
              <a:t>Fallback</a:t>
            </a:r>
          </a:p>
        </p:txBody>
      </p:sp>
      <p:sp>
        <p:nvSpPr>
          <p:cNvPr name="Line 84" id="84"/>
          <p:cNvSpPr>
            <a:spLocks noGrp="true"/>
          </p:cNvSpPr>
          <p:nvPr/>
        </p:nvSpPr>
        <p:spPr>
          <a:xfrm rot="0">
            <a:off x="14447519" y="3264408"/>
            <a:ext cx="2743200" cy="0"/>
          </a:xfrm>
          <a:prstGeom prst="line">
            <a:avLst/>
          </a:prstGeom>
          <a:noFill/>
          <a:ln w="9000">
            <a:solidFill>
              <a:srgbClr val="8B1A1A"/>
            </a:solidFill>
          </a:ln>
        </p:spPr>
      </p:sp>
      <p:sp>
        <p:nvSpPr>
          <p:cNvPr name="TextBox 94" id="94"/>
          <p:cNvSpPr txBox="true"/>
          <p:nvPr/>
        </p:nvSpPr>
        <p:spPr>
          <a:xfrm rot="0">
            <a:off x="14465807" y="3429000"/>
            <a:ext cx="2743200" cy="438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No ext writes → SAFE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Unresolved pattern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→ UNSAFE (conservative)</a:t>
            </a:r>
          </a:p>
        </p:txBody>
      </p:sp>
      <p:sp>
        <p:nvSpPr>
          <p:cNvPr name="TextBox 300" id="300"/>
          <p:cNvSpPr txBox="true"/>
          <p:nvPr/>
        </p:nvSpPr>
        <p:spPr>
          <a:xfrm rot="0">
            <a:off x="1005840" y="8366760"/>
            <a:ext cx="32004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true" sz="1500" dirty="0">
                <a:solidFill>
                  <a:srgbClr val="555555"/>
                </a:solidFill>
                <a:latin typeface="Calibri"/>
              </a:rPr>
              <a:t>Input: .fir file</a:t>
            </a:r>
          </a:p>
        </p:txBody>
      </p:sp>
      <p:sp>
        <p:nvSpPr>
          <p:cNvPr name="Chip 310" id="310"/>
          <p:cNvSpPr/>
          <p:nvPr/>
        </p:nvSpPr>
        <p:spPr>
          <a:xfrm rot="0">
            <a:off x="12344400" y="8321040"/>
            <a:ext cx="1645920" cy="438912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00" dirty="0">
                <a:solidFill>
                  <a:srgbClr val="FFFFFF"/>
                </a:solidFill>
                <a:latin typeface="Calibri"/>
              </a:rPr>
              <a:t>SAFE</a:t>
            </a:r>
          </a:p>
        </p:txBody>
      </p:sp>
      <p:sp>
        <p:nvSpPr>
          <p:cNvPr name="Chip 311" id="311"/>
          <p:cNvSpPr/>
          <p:nvPr/>
        </p:nvSpPr>
        <p:spPr>
          <a:xfrm rot="0">
            <a:off x="14173200" y="8321040"/>
            <a:ext cx="1645920" cy="438912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00" dirty="0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sp>
        <p:nvSpPr>
          <p:cNvPr name="Chip 312" id="312"/>
          <p:cNvSpPr/>
          <p:nvPr/>
        </p:nvSpPr>
        <p:spPr>
          <a:xfrm rot="0">
            <a:off x="16002000" y="8321040"/>
            <a:ext cx="1645920" cy="438912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00" dirty="0">
                <a:solidFill>
                  <a:srgbClr val="FFFFFF"/>
                </a:solidFill>
                <a:latin typeface="Calibri"/>
              </a:rPr>
              <a:t>UNSAFE</a:t>
            </a:r>
          </a:p>
        </p:txBody>
      </p:sp>
      <p:sp>
        <p:nvSpPr>
          <p:cNvPr name="TextBox 320" id="320"/>
          <p:cNvSpPr txBox="true"/>
          <p:nvPr/>
        </p:nvSpPr>
        <p:spPr>
          <a:xfrm rot="0">
            <a:off x="11704320" y="8321040"/>
            <a:ext cx="13716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000000"/>
                </a:solidFill>
                <a:latin typeface="Calibri"/>
              </a:rPr>
              <a:t>Output: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Tech Stack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Chip 50" id="50"/>
          <p:cNvSpPr/>
          <p:nvPr/>
        </p:nvSpPr>
        <p:spPr>
          <a:xfrm rot="0">
            <a:off x="1005840" y="1920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LLVM 18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5840" y="2542032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Compiler infrastructure — pass framework, IR walker API</a:t>
            </a:r>
          </a:p>
        </p:txBody>
      </p:sp>
      <p:sp>
        <p:nvSpPr>
          <p:cNvPr name="Chip 51" id="51"/>
          <p:cNvSpPr/>
          <p:nvPr/>
        </p:nvSpPr>
        <p:spPr>
          <a:xfrm rot="0">
            <a:off x="9464040" y="1920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1B6CA8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MLIR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64040" y="2542032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Multi-Level IR — PassWrapper, op.walk, dyn_cast patterns</a:t>
            </a:r>
          </a:p>
        </p:txBody>
      </p:sp>
      <p:sp>
        <p:nvSpPr>
          <p:cNvPr name="Chip 52" id="52"/>
          <p:cNvSpPr/>
          <p:nvPr/>
        </p:nvSpPr>
        <p:spPr>
          <a:xfrm rot="0">
            <a:off x="1005840" y="4206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Flang / FIR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05840" y="4828031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Fortran → FIR compiler.  FIR dialect preserves DO loop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structure, array shapes, and variable intent</a:t>
            </a:r>
          </a:p>
        </p:txBody>
      </p:sp>
      <p:sp>
        <p:nvSpPr>
          <p:cNvPr name="Chip 53" id="53"/>
          <p:cNvSpPr/>
          <p:nvPr/>
        </p:nvSpPr>
        <p:spPr>
          <a:xfrm rot="0">
            <a:off x="9464040" y="4206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444444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C++ 17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64040" y="4828031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Analysis pass implementation (~700 LOC core logic)</a:t>
            </a:r>
          </a:p>
        </p:txBody>
      </p:sp>
      <p:sp>
        <p:nvSpPr>
          <p:cNvPr name="Chip 54" id="54"/>
          <p:cNvSpPr/>
          <p:nvPr/>
        </p:nvSpPr>
        <p:spPr>
          <a:xfrm rot="0">
            <a:off x="1005840" y="6492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Python 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5840" y="7114031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Test runner (run_tests.py) and HTML report generator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(report.py — 1259 LOC)</a:t>
            </a:r>
          </a:p>
        </p:txBody>
      </p:sp>
      <p:sp>
        <p:nvSpPr>
          <p:cNvPr name="Chip 55" id="55"/>
          <p:cNvSpPr/>
          <p:nvPr/>
        </p:nvSpPr>
        <p:spPr>
          <a:xfrm rot="0">
            <a:off x="9464040" y="649224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CMake ≥ 3.20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464040" y="7114031"/>
            <a:ext cx="80467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Build system.  Builds in &lt; 2 minutes on Codespaces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05840" y="8961120"/>
            <a:ext cx="1627632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1650" dirty="0">
                <a:solidFill>
                  <a:srgbClr val="555555"/>
                </a:solidFill>
                <a:latin typeface="Calibri"/>
              </a:rPr>
              <a:t>Why FIR?  Every array subscript is an explicit SSA value — no need to parse raw Fortran syntax quirks.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Architecture Flow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40" id="40"/>
          <p:cNvSpPr txBox="true"/>
          <p:nvPr/>
        </p:nvSpPr>
        <p:spPr>
          <a:xfrm rot="0">
            <a:off x="1005840" y="1874519"/>
            <a:ext cx="16276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1600" dirty="0">
                <a:solidFill>
                  <a:srgbClr val="999999"/>
                </a:solidFill>
                <a:latin typeface="Calibri"/>
              </a:rPr>
              <a:t>[ Insert Mermaid / Architecture diagram here — see diagram code on next slide ]</a:t>
            </a:r>
          </a:p>
        </p:txBody>
      </p:sp>
      <p:sp>
        <p:nvSpPr>
          <p:cNvPr name="ContentBox 50" id="50"/>
          <p:cNvSpPr/>
          <p:nvPr/>
        </p:nvSpPr>
        <p:spPr>
          <a:xfrm rot="0">
            <a:off x="1005840" y="2514600"/>
            <a:ext cx="3931920" cy="3200400"/>
          </a:xfrm>
          <a:prstGeom prst="roundRect">
            <a:avLst>
              <a:gd name="adj" fmla="val 15000"/>
            </a:avLst>
          </a:prstGeom>
          <a:solidFill>
            <a:srgbClr val="EBF2FA">
              <a:alpha val="92000"/>
            </a:srgbClr>
          </a:solidFill>
          <a:ln>
            <a:noFill/>
          </a:ln>
        </p:spPr>
      </p:sp>
      <p:sp>
        <p:nvSpPr>
          <p:cNvPr name="Chip 60" id="60"/>
          <p:cNvSpPr/>
          <p:nvPr/>
        </p:nvSpPr>
        <p:spPr>
          <a:xfrm rot="0">
            <a:off x="1097280" y="2578608"/>
            <a:ext cx="3749039" cy="566928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350" dirty="0">
                <a:solidFill>
                  <a:srgbClr val="FFFFFF"/>
                </a:solidFill>
                <a:latin typeface="Calibri"/>
              </a:rPr>
              <a:t>LoopParallelAnalysis.cpp
471 LOC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43000" y="3291840"/>
            <a:ext cx="3657600" cy="21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Core MLIR Pass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Phases 1–5 + printer</a:t>
            </a:r>
          </a:p>
        </p:txBody>
      </p:sp>
      <p:sp>
        <p:nvSpPr>
          <p:cNvPr name="ContentBox 51" id="51"/>
          <p:cNvSpPr/>
          <p:nvPr/>
        </p:nvSpPr>
        <p:spPr>
          <a:xfrm rot="0">
            <a:off x="5212079" y="2514600"/>
            <a:ext cx="3931920" cy="3200400"/>
          </a:xfrm>
          <a:prstGeom prst="roundRect">
            <a:avLst>
              <a:gd name="adj" fmla="val 15000"/>
            </a:avLst>
          </a:prstGeom>
          <a:solidFill>
            <a:srgbClr val="EBF2FA">
              <a:alpha val="92000"/>
            </a:srgbClr>
          </a:solidFill>
          <a:ln>
            <a:noFill/>
          </a:ln>
        </p:spPr>
      </p:sp>
      <p:sp>
        <p:nvSpPr>
          <p:cNvPr name="Chip 61" id="61"/>
          <p:cNvSpPr/>
          <p:nvPr/>
        </p:nvSpPr>
        <p:spPr>
          <a:xfrm rot="0">
            <a:off x="5303519" y="2578608"/>
            <a:ext cx="3749039" cy="566928"/>
          </a:xfrm>
          <a:prstGeom prst="roundRect">
            <a:avLst>
              <a:gd name="adj" fmla="val 20000"/>
            </a:avLst>
          </a:prstGeom>
          <a:solidFill>
            <a:srgbClr val="1B6CA8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350" dirty="0">
                <a:solidFill>
                  <a:srgbClr val="FFFFFF"/>
                </a:solidFill>
                <a:latin typeface="Calibri"/>
              </a:rPr>
              <a:t>AccessClassifier.cpp
165 LOC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349240" y="3291840"/>
            <a:ext cx="3657600" cy="21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Phase 2 mem walker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Base-ref stripping</a:t>
            </a:r>
          </a:p>
        </p:txBody>
      </p:sp>
      <p:sp>
        <p:nvSpPr>
          <p:cNvPr name="ContentBox 52" id="52"/>
          <p:cNvSpPr/>
          <p:nvPr/>
        </p:nvSpPr>
        <p:spPr>
          <a:xfrm rot="0">
            <a:off x="9418319" y="2514600"/>
            <a:ext cx="3931920" cy="3200400"/>
          </a:xfrm>
          <a:prstGeom prst="roundRect">
            <a:avLst>
              <a:gd name="adj" fmla="val 15000"/>
            </a:avLst>
          </a:prstGeom>
          <a:solidFill>
            <a:srgbClr val="EBF2FA">
              <a:alpha val="92000"/>
            </a:srgbClr>
          </a:solidFill>
          <a:ln>
            <a:noFill/>
          </a:ln>
        </p:spPr>
      </p:sp>
      <p:sp>
        <p:nvSpPr>
          <p:cNvPr name="Chip 62" id="62"/>
          <p:cNvSpPr/>
          <p:nvPr/>
        </p:nvSpPr>
        <p:spPr>
          <a:xfrm rot="0">
            <a:off x="9509759" y="2578608"/>
            <a:ext cx="3749039" cy="566928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350" dirty="0">
                <a:solidFill>
                  <a:srgbClr val="FFFFFF"/>
                </a:solidFill>
                <a:latin typeface="Calibri"/>
              </a:rPr>
              <a:t>fpa-tool / main.cpp
71 LOC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55480" y="3291840"/>
            <a:ext cx="3657600" cy="21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CLI driver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Dialect registration</a:t>
            </a:r>
          </a:p>
        </p:txBody>
      </p:sp>
      <p:sp>
        <p:nvSpPr>
          <p:cNvPr name="ContentBox 53" id="53"/>
          <p:cNvSpPr/>
          <p:nvPr/>
        </p:nvSpPr>
        <p:spPr>
          <a:xfrm rot="0">
            <a:off x="13624559" y="2514600"/>
            <a:ext cx="3931920" cy="3200400"/>
          </a:xfrm>
          <a:prstGeom prst="roundRect">
            <a:avLst>
              <a:gd name="adj" fmla="val 15000"/>
            </a:avLst>
          </a:prstGeom>
          <a:solidFill>
            <a:srgbClr val="EBF2FA">
              <a:alpha val="92000"/>
            </a:srgbClr>
          </a:solidFill>
          <a:ln>
            <a:noFill/>
          </a:ln>
        </p:spPr>
      </p:sp>
      <p:sp>
        <p:nvSpPr>
          <p:cNvPr name="Chip 63" id="63"/>
          <p:cNvSpPr/>
          <p:nvPr/>
        </p:nvSpPr>
        <p:spPr>
          <a:xfrm rot="0">
            <a:off x="13715999" y="2578608"/>
            <a:ext cx="3749039" cy="566928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350" dirty="0">
                <a:solidFill>
                  <a:srgbClr val="FFFFFF"/>
                </a:solidFill>
                <a:latin typeface="Calibri"/>
              </a:rPr>
              <a:t>report.py
1 259 LOC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761719" y="3291840"/>
            <a:ext cx="3657600" cy="21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HTML report generator</a:t>
            </a:r>
            <a:br/>
            <a:r>
              <a:rPr lang="en-US" b="false" i="false" sz="1550" dirty="0">
                <a:solidFill>
                  <a:srgbClr val="000000"/>
                </a:solidFill>
                <a:latin typeface="Calibri"/>
              </a:rPr>
              <a:t>Confidence scoring</a:t>
            </a:r>
          </a:p>
        </p:txBody>
      </p:sp>
      <p:sp>
        <p:nvSpPr>
          <p:cNvPr name="Chip 80" id="80"/>
          <p:cNvSpPr/>
          <p:nvPr/>
        </p:nvSpPr>
        <p:spPr>
          <a:xfrm rot="0">
            <a:off x="1005840" y="59893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50" dirty="0">
                <a:solidFill>
                  <a:srgbClr val="FFFFFF"/>
                </a:solidFill>
                <a:latin typeface="Calibri"/>
              </a:rPr>
              <a:t>.f90 source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937760" y="6080760"/>
            <a:ext cx="2743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18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81" id="81"/>
          <p:cNvSpPr/>
          <p:nvPr/>
        </p:nvSpPr>
        <p:spPr>
          <a:xfrm rot="0">
            <a:off x="5212079" y="59893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B6CA8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50" dirty="0">
                <a:solidFill>
                  <a:srgbClr val="FFFFFF"/>
                </a:solidFill>
                <a:latin typeface="Calibri"/>
              </a:rPr>
              <a:t>FIR (.fir)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144000" y="6080760"/>
            <a:ext cx="2743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18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82" id="82"/>
          <p:cNvSpPr/>
          <p:nvPr/>
        </p:nvSpPr>
        <p:spPr>
          <a:xfrm rot="0">
            <a:off x="9418319" y="59893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50" dirty="0">
                <a:solidFill>
                  <a:srgbClr val="FFFFFF"/>
                </a:solidFill>
                <a:latin typeface="Calibri"/>
              </a:rPr>
              <a:t>MLIR Module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350239" y="6080760"/>
            <a:ext cx="2743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false" sz="18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Chip 83" id="83"/>
          <p:cNvSpPr/>
          <p:nvPr/>
        </p:nvSpPr>
        <p:spPr>
          <a:xfrm rot="0">
            <a:off x="13624559" y="59893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450" dirty="0">
                <a:solidFill>
                  <a:srgbClr val="FFFFFF"/>
                </a:solidFill>
                <a:latin typeface="Calibri"/>
              </a:rPr>
              <a:t>Per-loop Verdict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05840" y="6720840"/>
            <a:ext cx="1627632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1600" dirty="0">
                <a:solidFill>
                  <a:srgbClr val="555555"/>
                </a:solidFill>
                <a:latin typeface="Calibri"/>
              </a:rPr>
              <a:t>flang-new -fc1 -emit-fir  →  fpa-tool input.fir  →  Stdout + HTML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Test Results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Chip 50" id="50"/>
          <p:cNvSpPr/>
          <p:nvPr/>
        </p:nvSpPr>
        <p:spPr>
          <a:xfrm rot="0">
            <a:off x="1005840" y="1874519"/>
            <a:ext cx="3931920" cy="621792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13   SAFE</a:t>
            </a:r>
          </a:p>
        </p:txBody>
      </p:sp>
      <p:sp>
        <p:nvSpPr>
          <p:cNvPr name="Chip 51" id="51"/>
          <p:cNvSpPr/>
          <p:nvPr/>
        </p:nvSpPr>
        <p:spPr>
          <a:xfrm rot="0">
            <a:off x="5166360" y="1874519"/>
            <a:ext cx="3931920" cy="621792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 5   REDUCTION</a:t>
            </a:r>
          </a:p>
        </p:txBody>
      </p:sp>
      <p:sp>
        <p:nvSpPr>
          <p:cNvPr name="Chip 52" id="52"/>
          <p:cNvSpPr/>
          <p:nvPr/>
        </p:nvSpPr>
        <p:spPr>
          <a:xfrm rot="0">
            <a:off x="9326880" y="1874519"/>
            <a:ext cx="3931920" cy="621792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10   UNSAFE (dep)</a:t>
            </a:r>
          </a:p>
        </p:txBody>
      </p:sp>
      <p:sp>
        <p:nvSpPr>
          <p:cNvPr name="Chip 53" id="53"/>
          <p:cNvSpPr/>
          <p:nvPr/>
        </p:nvSpPr>
        <p:spPr>
          <a:xfrm rot="0">
            <a:off x="13487399" y="1874519"/>
            <a:ext cx="3931920" cy="621792"/>
          </a:xfrm>
          <a:prstGeom prst="roundRect">
            <a:avLst>
              <a:gd name="adj" fmla="val 20000"/>
            </a:avLst>
          </a:prstGeom>
          <a:solidFill>
            <a:srgbClr val="6B3A8B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700" dirty="0">
                <a:solidFill>
                  <a:srgbClr val="FFFFFF"/>
                </a:solidFill>
                <a:latin typeface="Calibri"/>
              </a:rPr>
              <a:t> 7   UNSAFE (conserv)</a:t>
            </a:r>
          </a:p>
        </p:txBody>
      </p:sp>
      <p:sp>
        <p:nvSpPr>
          <p:cNvPr name="Chip 60" id="60"/>
          <p:cNvSpPr/>
          <p:nvPr/>
        </p:nvSpPr>
        <p:spPr>
          <a:xfrm rot="0">
            <a:off x="1005840" y="2697480"/>
            <a:ext cx="9235440" cy="43891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50" dirty="0">
                <a:solidFill>
                  <a:srgbClr val="FFFFFF"/>
                </a:solidFill>
                <a:latin typeface="Calibri"/>
              </a:rPr>
              <a:t>Fortran Pattern</a:t>
            </a:r>
          </a:p>
        </p:txBody>
      </p:sp>
      <p:sp>
        <p:nvSpPr>
          <p:cNvPr name="Chip 61" id="61"/>
          <p:cNvSpPr/>
          <p:nvPr/>
        </p:nvSpPr>
        <p:spPr>
          <a:xfrm rot="0">
            <a:off x="10515600" y="2697480"/>
            <a:ext cx="2560320" cy="43891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50" dirty="0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name="Chip 62" id="62"/>
          <p:cNvSpPr/>
          <p:nvPr/>
        </p:nvSpPr>
        <p:spPr>
          <a:xfrm rot="0">
            <a:off x="13350240" y="2697480"/>
            <a:ext cx="2560320" cy="43891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50" dirty="0">
                <a:solidFill>
                  <a:srgbClr val="FFFFFF"/>
                </a:solidFill>
                <a:latin typeface="Calibri"/>
              </a:rPr>
              <a:t>Got</a:t>
            </a:r>
          </a:p>
        </p:txBody>
      </p:sp>
      <p:sp>
        <p:nvSpPr>
          <p:cNvPr name="Chip 63" id="63"/>
          <p:cNvSpPr/>
          <p:nvPr/>
        </p:nvSpPr>
        <p:spPr>
          <a:xfrm rot="0">
            <a:off x="16184880" y="2697480"/>
            <a:ext cx="1645920" cy="438912"/>
          </a:xfrm>
          <a:prstGeom prst="roundRect">
            <a:avLst>
              <a:gd name="adj" fmla="val 20000"/>
            </a:avLst>
          </a:prstGeom>
          <a:solidFill>
            <a:srgbClr val="083C92"/>
          </a:solidFill>
          <a:ln>
            <a:noFill/>
          </a:ln>
        </p:spPr>
        <p:txBody>
          <a:bodyPr anchor="ctr" rtlCol="false" tIns="45720" lIns="91440" bIns="45720" rIns="91440"/>
          <a:lstStyle/>
          <a:p>
            <a:pPr algn="ctr"/>
            <a:r>
              <a:rPr lang="en-US" b="true" sz="1550" dirty="0">
                <a:solidFill>
                  <a:srgbClr val="FFFFFF"/>
                </a:solidFill>
                <a:latin typeface="Calibri"/>
              </a:rPr>
              <a:t>✓/✗</a:t>
            </a:r>
          </a:p>
        </p:txBody>
      </p:sp>
      <p:sp>
        <p:nvSpPr>
          <p:cNvPr name="ContentBox 80" id="80"/>
          <p:cNvSpPr/>
          <p:nvPr/>
        </p:nvSpPr>
        <p:spPr>
          <a:xfrm rot="0">
            <a:off x="1005840" y="3255264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0" id="200"/>
          <p:cNvSpPr txBox="true"/>
          <p:nvPr/>
        </p:nvSpPr>
        <p:spPr>
          <a:xfrm rot="0">
            <a:off x="1078992" y="3328416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b(i) = a(i) * 2.0</a:t>
            </a:r>
          </a:p>
        </p:txBody>
      </p:sp>
      <p:sp>
        <p:nvSpPr>
          <p:cNvPr name="ContentBox 81" id="81"/>
          <p:cNvSpPr/>
          <p:nvPr/>
        </p:nvSpPr>
        <p:spPr>
          <a:xfrm rot="0">
            <a:off x="10515600" y="3255264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1" id="201"/>
          <p:cNvSpPr txBox="true"/>
          <p:nvPr/>
        </p:nvSpPr>
        <p:spPr>
          <a:xfrm rot="0">
            <a:off x="10588752" y="3328416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SAFE</a:t>
            </a:r>
          </a:p>
        </p:txBody>
      </p:sp>
      <p:sp>
        <p:nvSpPr>
          <p:cNvPr name="ContentBox 82" id="82"/>
          <p:cNvSpPr/>
          <p:nvPr/>
        </p:nvSpPr>
        <p:spPr>
          <a:xfrm rot="0">
            <a:off x="13350240" y="3255264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2" id="202"/>
          <p:cNvSpPr txBox="true"/>
          <p:nvPr/>
        </p:nvSpPr>
        <p:spPr>
          <a:xfrm rot="0">
            <a:off x="13423392" y="3328416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SAFE</a:t>
            </a:r>
          </a:p>
        </p:txBody>
      </p:sp>
      <p:sp>
        <p:nvSpPr>
          <p:cNvPr name="ContentBox 83" id="83"/>
          <p:cNvSpPr/>
          <p:nvPr/>
        </p:nvSpPr>
        <p:spPr>
          <a:xfrm rot="0">
            <a:off x="16184880" y="3255264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3" id="203"/>
          <p:cNvSpPr txBox="true"/>
          <p:nvPr/>
        </p:nvSpPr>
        <p:spPr>
          <a:xfrm rot="0">
            <a:off x="16258031" y="3328416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84" id="84"/>
          <p:cNvSpPr/>
          <p:nvPr/>
        </p:nvSpPr>
        <p:spPr>
          <a:xfrm rot="0">
            <a:off x="1005840" y="3913632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04" id="204"/>
          <p:cNvSpPr txBox="true"/>
          <p:nvPr/>
        </p:nvSpPr>
        <p:spPr>
          <a:xfrm rot="0">
            <a:off x="1078992" y="3986784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total += a(i)*b(i)</a:t>
            </a:r>
          </a:p>
        </p:txBody>
      </p:sp>
      <p:sp>
        <p:nvSpPr>
          <p:cNvPr name="ContentBox 85" id="85"/>
          <p:cNvSpPr/>
          <p:nvPr/>
        </p:nvSpPr>
        <p:spPr>
          <a:xfrm rot="0">
            <a:off x="10515600" y="3913632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05" id="205"/>
          <p:cNvSpPr txBox="true"/>
          <p:nvPr/>
        </p:nvSpPr>
        <p:spPr>
          <a:xfrm rot="0">
            <a:off x="10588752" y="3986784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REDUCTION</a:t>
            </a:r>
          </a:p>
        </p:txBody>
      </p:sp>
      <p:sp>
        <p:nvSpPr>
          <p:cNvPr name="ContentBox 86" id="86"/>
          <p:cNvSpPr/>
          <p:nvPr/>
        </p:nvSpPr>
        <p:spPr>
          <a:xfrm rot="0">
            <a:off x="13350240" y="3913632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06" id="206"/>
          <p:cNvSpPr txBox="true"/>
          <p:nvPr/>
        </p:nvSpPr>
        <p:spPr>
          <a:xfrm rot="0">
            <a:off x="13423392" y="3986784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REDUCTION</a:t>
            </a:r>
          </a:p>
        </p:txBody>
      </p:sp>
      <p:sp>
        <p:nvSpPr>
          <p:cNvPr name="ContentBox 87" id="87"/>
          <p:cNvSpPr/>
          <p:nvPr/>
        </p:nvSpPr>
        <p:spPr>
          <a:xfrm rot="0">
            <a:off x="16184880" y="3913632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07" id="207"/>
          <p:cNvSpPr txBox="true"/>
          <p:nvPr/>
        </p:nvSpPr>
        <p:spPr>
          <a:xfrm rot="0">
            <a:off x="16258031" y="3986784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88" id="88"/>
          <p:cNvSpPr/>
          <p:nvPr/>
        </p:nvSpPr>
        <p:spPr>
          <a:xfrm rot="0">
            <a:off x="1005840" y="4572000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8" id="208"/>
          <p:cNvSpPr txBox="true"/>
          <p:nvPr/>
        </p:nvSpPr>
        <p:spPr>
          <a:xfrm rot="0">
            <a:off x="1078992" y="4645152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a(i) = a(i) + a(i-1)</a:t>
            </a:r>
          </a:p>
        </p:txBody>
      </p:sp>
      <p:sp>
        <p:nvSpPr>
          <p:cNvPr name="ContentBox 89" id="89"/>
          <p:cNvSpPr/>
          <p:nvPr/>
        </p:nvSpPr>
        <p:spPr>
          <a:xfrm rot="0">
            <a:off x="10515600" y="4572000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09" id="209"/>
          <p:cNvSpPr txBox="true"/>
          <p:nvPr/>
        </p:nvSpPr>
        <p:spPr>
          <a:xfrm rot="0">
            <a:off x="10588752" y="4645152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0" id="90"/>
          <p:cNvSpPr/>
          <p:nvPr/>
        </p:nvSpPr>
        <p:spPr>
          <a:xfrm rot="0">
            <a:off x="13350240" y="4572000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0" id="210"/>
          <p:cNvSpPr txBox="true"/>
          <p:nvPr/>
        </p:nvSpPr>
        <p:spPr>
          <a:xfrm rot="0">
            <a:off x="13423392" y="4645152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1" id="91"/>
          <p:cNvSpPr/>
          <p:nvPr/>
        </p:nvSpPr>
        <p:spPr>
          <a:xfrm rot="0">
            <a:off x="16184880" y="4572000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1" id="211"/>
          <p:cNvSpPr txBox="true"/>
          <p:nvPr/>
        </p:nvSpPr>
        <p:spPr>
          <a:xfrm rot="0">
            <a:off x="16258031" y="4645152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92" id="92"/>
          <p:cNvSpPr/>
          <p:nvPr/>
        </p:nvSpPr>
        <p:spPr>
          <a:xfrm rot="0">
            <a:off x="1005840" y="5230368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12" id="212"/>
          <p:cNvSpPr txBox="true"/>
          <p:nvPr/>
        </p:nvSpPr>
        <p:spPr>
          <a:xfrm rot="0">
            <a:off x="1078992" y="5303520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b(idx(i)) = a(i)  [scatter]</a:t>
            </a:r>
          </a:p>
        </p:txBody>
      </p:sp>
      <p:sp>
        <p:nvSpPr>
          <p:cNvPr name="ContentBox 93" id="93"/>
          <p:cNvSpPr/>
          <p:nvPr/>
        </p:nvSpPr>
        <p:spPr>
          <a:xfrm rot="0">
            <a:off x="10515600" y="5230368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13" id="213"/>
          <p:cNvSpPr txBox="true"/>
          <p:nvPr/>
        </p:nvSpPr>
        <p:spPr>
          <a:xfrm rot="0">
            <a:off x="10588752" y="5303520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4" id="94"/>
          <p:cNvSpPr/>
          <p:nvPr/>
        </p:nvSpPr>
        <p:spPr>
          <a:xfrm rot="0">
            <a:off x="13350240" y="5230368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14" id="214"/>
          <p:cNvSpPr txBox="true"/>
          <p:nvPr/>
        </p:nvSpPr>
        <p:spPr>
          <a:xfrm rot="0">
            <a:off x="13423392" y="5303520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5" id="95"/>
          <p:cNvSpPr/>
          <p:nvPr/>
        </p:nvSpPr>
        <p:spPr>
          <a:xfrm rot="0">
            <a:off x="16184880" y="5230368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15" id="215"/>
          <p:cNvSpPr txBox="true"/>
          <p:nvPr/>
        </p:nvSpPr>
        <p:spPr>
          <a:xfrm rot="0">
            <a:off x="16258031" y="5303520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96" id="96"/>
          <p:cNvSpPr/>
          <p:nvPr/>
        </p:nvSpPr>
        <p:spPr>
          <a:xfrm rot="0">
            <a:off x="1005840" y="5888736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6" id="216"/>
          <p:cNvSpPr txBox="true"/>
          <p:nvPr/>
        </p:nvSpPr>
        <p:spPr>
          <a:xfrm rot="0">
            <a:off x="1078992" y="5961888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a(i) = a(i) * 3.0  [inplace]</a:t>
            </a:r>
          </a:p>
        </p:txBody>
      </p:sp>
      <p:sp>
        <p:nvSpPr>
          <p:cNvPr name="ContentBox 97" id="97"/>
          <p:cNvSpPr/>
          <p:nvPr/>
        </p:nvSpPr>
        <p:spPr>
          <a:xfrm rot="0">
            <a:off x="10515600" y="5888736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7" id="217"/>
          <p:cNvSpPr txBox="true"/>
          <p:nvPr/>
        </p:nvSpPr>
        <p:spPr>
          <a:xfrm rot="0">
            <a:off x="10588752" y="5961888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8" id="98"/>
          <p:cNvSpPr/>
          <p:nvPr/>
        </p:nvSpPr>
        <p:spPr>
          <a:xfrm rot="0">
            <a:off x="13350240" y="5888736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8" id="218"/>
          <p:cNvSpPr txBox="true"/>
          <p:nvPr/>
        </p:nvSpPr>
        <p:spPr>
          <a:xfrm rot="0">
            <a:off x="13423392" y="5961888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UNSAFE</a:t>
            </a:r>
          </a:p>
        </p:txBody>
      </p:sp>
      <p:sp>
        <p:nvSpPr>
          <p:cNvPr name="ContentBox 99" id="99"/>
          <p:cNvSpPr/>
          <p:nvPr/>
        </p:nvSpPr>
        <p:spPr>
          <a:xfrm rot="0">
            <a:off x="16184880" y="5888736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19" id="219"/>
          <p:cNvSpPr txBox="true"/>
          <p:nvPr/>
        </p:nvSpPr>
        <p:spPr>
          <a:xfrm rot="0">
            <a:off x="16258031" y="5961888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100" id="100"/>
          <p:cNvSpPr/>
          <p:nvPr/>
        </p:nvSpPr>
        <p:spPr>
          <a:xfrm rot="0">
            <a:off x="1005840" y="6547104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20" id="220"/>
          <p:cNvSpPr txBox="true"/>
          <p:nvPr/>
        </p:nvSpPr>
        <p:spPr>
          <a:xfrm rot="0">
            <a:off x="1078992" y="6620256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norm2 += a(i)*a(i)</a:t>
            </a:r>
          </a:p>
        </p:txBody>
      </p:sp>
      <p:sp>
        <p:nvSpPr>
          <p:cNvPr name="ContentBox 101" id="101"/>
          <p:cNvSpPr/>
          <p:nvPr/>
        </p:nvSpPr>
        <p:spPr>
          <a:xfrm rot="0">
            <a:off x="10515600" y="6547104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21" id="221"/>
          <p:cNvSpPr txBox="true"/>
          <p:nvPr/>
        </p:nvSpPr>
        <p:spPr>
          <a:xfrm rot="0">
            <a:off x="10588752" y="6620256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REDUCTION</a:t>
            </a:r>
          </a:p>
        </p:txBody>
      </p:sp>
      <p:sp>
        <p:nvSpPr>
          <p:cNvPr name="ContentBox 102" id="102"/>
          <p:cNvSpPr/>
          <p:nvPr/>
        </p:nvSpPr>
        <p:spPr>
          <a:xfrm rot="0">
            <a:off x="13350240" y="6547104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22" id="222"/>
          <p:cNvSpPr txBox="true"/>
          <p:nvPr/>
        </p:nvSpPr>
        <p:spPr>
          <a:xfrm rot="0">
            <a:off x="13423392" y="6620256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REDUCTION</a:t>
            </a:r>
          </a:p>
        </p:txBody>
      </p:sp>
      <p:sp>
        <p:nvSpPr>
          <p:cNvPr name="ContentBox 103" id="103"/>
          <p:cNvSpPr/>
          <p:nvPr/>
        </p:nvSpPr>
        <p:spPr>
          <a:xfrm rot="0">
            <a:off x="16184880" y="6547104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223" id="223"/>
          <p:cNvSpPr txBox="true"/>
          <p:nvPr/>
        </p:nvSpPr>
        <p:spPr>
          <a:xfrm rot="0">
            <a:off x="16258031" y="6620256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ContentBox 104" id="104"/>
          <p:cNvSpPr/>
          <p:nvPr/>
        </p:nvSpPr>
        <p:spPr>
          <a:xfrm rot="0">
            <a:off x="1005840" y="7205472"/>
            <a:ext cx="923544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24" id="224"/>
          <p:cNvSpPr txBox="true"/>
          <p:nvPr/>
        </p:nvSpPr>
        <p:spPr>
          <a:xfrm rot="0">
            <a:off x="1078992" y="7278624"/>
            <a:ext cx="9144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read-only traversal</a:t>
            </a:r>
          </a:p>
        </p:txBody>
      </p:sp>
      <p:sp>
        <p:nvSpPr>
          <p:cNvPr name="ContentBox 105" id="105"/>
          <p:cNvSpPr/>
          <p:nvPr/>
        </p:nvSpPr>
        <p:spPr>
          <a:xfrm rot="0">
            <a:off x="10515600" y="7205472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25" id="225"/>
          <p:cNvSpPr txBox="true"/>
          <p:nvPr/>
        </p:nvSpPr>
        <p:spPr>
          <a:xfrm rot="0">
            <a:off x="10588752" y="7278624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SAFE</a:t>
            </a:r>
          </a:p>
        </p:txBody>
      </p:sp>
      <p:sp>
        <p:nvSpPr>
          <p:cNvPr name="ContentBox 106" id="106"/>
          <p:cNvSpPr/>
          <p:nvPr/>
        </p:nvSpPr>
        <p:spPr>
          <a:xfrm rot="0">
            <a:off x="13350240" y="7205472"/>
            <a:ext cx="25603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26" id="226"/>
          <p:cNvSpPr txBox="true"/>
          <p:nvPr/>
        </p:nvSpPr>
        <p:spPr>
          <a:xfrm rot="0">
            <a:off x="13423392" y="7278624"/>
            <a:ext cx="24688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500" dirty="0">
                <a:solidFill>
                  <a:srgbClr val="444444"/>
                </a:solidFill>
                <a:latin typeface="Calibri"/>
              </a:rPr>
              <a:t>SAFE</a:t>
            </a:r>
          </a:p>
        </p:txBody>
      </p:sp>
      <p:sp>
        <p:nvSpPr>
          <p:cNvPr name="ContentBox 107" id="107"/>
          <p:cNvSpPr/>
          <p:nvPr/>
        </p:nvSpPr>
        <p:spPr>
          <a:xfrm rot="0">
            <a:off x="16184880" y="7205472"/>
            <a:ext cx="1645920" cy="566928"/>
          </a:xfrm>
          <a:prstGeom prst="roundRect">
            <a:avLst>
              <a:gd name="adj" fmla="val 15000"/>
            </a:avLst>
          </a:prstGeom>
          <a:solidFill>
            <a:srgbClr val="F0F0F0">
              <a:alpha val="92000"/>
            </a:srgbClr>
          </a:solidFill>
          <a:ln>
            <a:noFill/>
          </a:ln>
        </p:spPr>
      </p:sp>
      <p:sp>
        <p:nvSpPr>
          <p:cNvPr name="TextBox 227" id="227"/>
          <p:cNvSpPr txBox="true"/>
          <p:nvPr/>
        </p:nvSpPr>
        <p:spPr>
          <a:xfrm rot="0">
            <a:off x="16258031" y="7278624"/>
            <a:ext cx="15544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500" dirty="0">
                <a:solidFill>
                  <a:srgbClr val="1A6B3C"/>
                </a:solidFill>
                <a:latin typeface="Calibri"/>
              </a:rPr>
              <a:t>✓</a:t>
            </a:r>
          </a:p>
        </p:txBody>
      </p:sp>
      <p:sp>
        <p:nvSpPr>
          <p:cNvPr name="TextBox 300" id="300"/>
          <p:cNvSpPr txBox="true"/>
          <p:nvPr/>
        </p:nvSpPr>
        <p:spPr>
          <a:xfrm rot="0">
            <a:off x="1005840" y="7909560"/>
            <a:ext cx="1627632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true" sz="1600" dirty="0">
                <a:solidFill>
                  <a:srgbClr val="083C92"/>
                </a:solidFill>
                <a:latin typeface="Calibri"/>
              </a:rPr>
              <a:t>30 / 30 comprehensive tests pass  ·  5 / 5 original tests pass  ·  35 total  ·  0 false positives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itleBanner 10" id="10"/>
          <p:cNvSpPr txBox="true"/>
          <p:nvPr/>
        </p:nvSpPr>
        <p:spPr>
          <a:xfrm rot="0">
            <a:off x="914400" y="502920"/>
            <a:ext cx="16459200" cy="73152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>
              <a:lnSpc>
                <a:spcPts val="4923"/>
              </a:lnSpc>
              <a:spcBef>
                <a:spcPct val="0"/>
              </a:spcBef>
            </a:pPr>
            <a:r>
              <a:rPr lang="en-US" b="true" i="true" sz="4100" dirty="0">
                <a:solidFill>
                  <a:srgbClr val="083C92"/>
                </a:solidFill>
                <a:latin typeface="Playfair Display Bold Italics"/>
                <a:ea typeface="Playfair Display Bold Italics"/>
                <a:cs typeface="Playfair Display Bold Italics"/>
              </a:rPr>
              <a:t>Limitations &amp; Future Work</a:t>
            </a:r>
          </a:p>
        </p:txBody>
      </p:sp>
      <p:sp>
        <p:nvSpPr>
          <p:cNvPr name="Line 11" id="11"/>
          <p:cNvSpPr>
            <a:spLocks noGrp="true"/>
          </p:cNvSpPr>
          <p:nvPr/>
        </p:nvSpPr>
        <p:spPr>
          <a:xfrm rot="0">
            <a:off x="2743200" y="1371600"/>
            <a:ext cx="12801600" cy="0"/>
          </a:xfrm>
          <a:prstGeom prst="line">
            <a:avLst/>
          </a:prstGeom>
          <a:noFill/>
          <a:ln w="18000">
            <a:solidFill>
              <a:srgbClr val="083C92"/>
            </a:solidFill>
          </a:ln>
        </p:spPr>
      </p:sp>
      <p:sp>
        <p:nvSpPr>
          <p:cNvPr name="ContentBox 20" id="20"/>
          <p:cNvSpPr/>
          <p:nvPr/>
        </p:nvSpPr>
        <p:spPr>
          <a:xfrm rot="0">
            <a:off x="621792" y="1691640"/>
            <a:ext cx="17044416" cy="813816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name="TextBox 40" id="40"/>
          <p:cNvSpPr txBox="true"/>
          <p:nvPr/>
        </p:nvSpPr>
        <p:spPr>
          <a:xfrm rot="0">
            <a:off x="1005840" y="1920240"/>
            <a:ext cx="8229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true" sz="2200" dirty="0">
                <a:solidFill>
                  <a:srgbClr val="083C92"/>
                </a:solidFill>
                <a:latin typeface="Playfair Display Bold Italics"/>
              </a:rPr>
              <a:t>Current Limitations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05840" y="2542032"/>
            <a:ext cx="3200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8B1A1A"/>
                </a:solidFill>
                <a:latin typeface="Calibri"/>
              </a:rPr>
              <a:t>–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17320" y="2542032"/>
            <a:ext cx="77724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a(i) = a(i)*k  →  conservatively UNSAFE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(same-index in-place update)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5840" y="3730752"/>
            <a:ext cx="3200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8B1A1A"/>
                </a:solidFill>
                <a:latin typeface="Calibri"/>
              </a:rPr>
              <a:t>–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17320" y="3730752"/>
            <a:ext cx="77724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Multi-dim subscripts c(i,j) not traced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(outer loop conservatively UNSAFE)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05840" y="4919472"/>
            <a:ext cx="3200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8B1A1A"/>
                </a:solidFill>
                <a:latin typeface="Calibri"/>
              </a:rPr>
              <a:t>–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17320" y="4919472"/>
            <a:ext cx="77724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Function call side-effects not analyzed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5840" y="6108192"/>
            <a:ext cx="3200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8B1A1A"/>
                </a:solidFill>
                <a:latin typeface="Calibri"/>
              </a:rPr>
              <a:t>–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17320" y="6108192"/>
            <a:ext cx="77724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min / max reductions not yet detected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(only + and × supported)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05840" y="7296912"/>
            <a:ext cx="3200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8B1A1A"/>
                </a:solidFill>
                <a:latin typeface="Calibri"/>
              </a:rPr>
              <a:t>–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17320" y="7296912"/>
            <a:ext cx="77724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Chained reductions not matched:</a:t>
            </a:r>
            <a:br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s = s + f(x) + g(y)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01200" y="1920240"/>
            <a:ext cx="804672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true" sz="2200" dirty="0">
                <a:solidFill>
                  <a:srgbClr val="083C92"/>
                </a:solidFill>
                <a:latin typeface="Playfair Display Bold Italics"/>
              </a:rPr>
              <a:t>Future Work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601200" y="2542032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058400" y="2542032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Read-before-write check for in-place updates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601200" y="3566160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058400" y="3566160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Multi-dim subscript tracing per axis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601200" y="4590288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058400" y="4590288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Add min / max reduction patterns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601200" y="5614416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058400" y="5614416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Interprocedural side-effect summaries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601200" y="6638544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058400" y="6638544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Auto-insert !$OMP directives in source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601200" y="7662672"/>
            <a:ext cx="36576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true" i="false" sz="1700" dirty="0">
                <a:solidFill>
                  <a:srgbClr val="083C92"/>
                </a:solidFill>
                <a:latin typeface="Calibri"/>
              </a:rPr>
              <a:t>→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058400" y="7662672"/>
            <a:ext cx="7498079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lang="en-US" b="false" i="false" sz="1600" dirty="0">
                <a:solidFill>
                  <a:srgbClr val="000000"/>
                </a:solidFill>
                <a:latin typeface="Calibri"/>
              </a:rPr>
              <a:t>CI / CD pre-commit hook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Background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1600" y="3200400"/>
            <a:ext cx="1554480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true" i="true" sz="7200" dirty="0">
                <a:solidFill>
                  <a:srgbClr val="083C92"/>
                </a:solidFill>
                <a:latin typeface="Playfair Display Bold Italic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43200" y="5669280"/>
            <a:ext cx="128016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false" sz="2000" dirty="0">
                <a:solidFill>
                  <a:srgbClr val="444444"/>
                </a:solidFill>
                <a:latin typeface="Calibri"/>
              </a:rPr>
              <a:t>Aryan Gupta   ·   Arushi Vaidya   ·   Arpita</a:t>
            </a:r>
          </a:p>
        </p:txBody>
      </p:sp>
      <p:sp>
        <p:nvSpPr>
          <p:cNvPr name="Line 5" id="5"/>
          <p:cNvSpPr>
            <a:spLocks noGrp="true"/>
          </p:cNvSpPr>
          <p:nvPr/>
        </p:nvSpPr>
        <p:spPr>
          <a:xfrm rot="0">
            <a:off x="3657600" y="6400800"/>
            <a:ext cx="10972800" cy="0"/>
          </a:xfrm>
          <a:prstGeom prst="line">
            <a:avLst/>
          </a:prstGeom>
          <a:noFill/>
          <a:ln w="12000">
            <a:solidFill>
              <a:srgbClr val="083C92"/>
            </a:solidFill>
          </a:ln>
        </p:spPr>
      </p:sp>
      <p:sp>
        <p:nvSpPr>
          <p:cNvPr name="TextBox 6" id="6"/>
          <p:cNvSpPr txBox="true"/>
          <p:nvPr/>
        </p:nvSpPr>
        <p:spPr>
          <a:xfrm rot="0">
            <a:off x="1371600" y="6629400"/>
            <a:ext cx="15544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true" sz="1700" dirty="0">
                <a:solidFill>
                  <a:srgbClr val="888888"/>
                </a:solidFill>
                <a:latin typeface="Calibri"/>
              </a:rPr>
              <a:t>github.com/AryanGupta21/FlangParallelAnalyzer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9200" y="9646920"/>
            <a:ext cx="850392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en-US" b="false" i="false" sz="1600" dirty="0">
                <a:solidFill>
                  <a:srgbClr val="888888"/>
                </a:solidFill>
                <a:latin typeface="Calibri"/>
              </a:rPr>
              <a:t>RV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